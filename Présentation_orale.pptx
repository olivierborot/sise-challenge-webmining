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2" r:id="rId2"/>
    <p:sldId id="263" r:id="rId3"/>
    <p:sldId id="274" r:id="rId4"/>
    <p:sldId id="268" r:id="rId5"/>
    <p:sldId id="266" r:id="rId6"/>
    <p:sldId id="275" r:id="rId7"/>
    <p:sldId id="269" r:id="rId8"/>
    <p:sldId id="279" r:id="rId9"/>
    <p:sldId id="276" r:id="rId10"/>
    <p:sldId id="272" r:id="rId11"/>
    <p:sldId id="271" r:id="rId12"/>
    <p:sldId id="278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A00"/>
    <a:srgbClr val="F4F5F7"/>
    <a:srgbClr val="0070C0"/>
    <a:srgbClr val="FFFFFF"/>
    <a:srgbClr val="232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8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D716D1-7D86-4E45-94A5-4EEE8BAAA781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E988AA-24F5-4F6A-86F5-E71935EC0AB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98954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63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FAE36-D967-557F-627D-8A996DC01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783AECF-F63E-9607-A2A7-72FD25100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B023BC8-9C03-EB53-E004-A43413E4D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6E1C7C5-65C3-CA19-8CE9-52644E738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82522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FC5C-7BD3-288F-4307-0220C9AFC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F9DC915-5E7B-A2E6-FE17-9D6B7766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91F9948-88AE-1657-AE73-56BCC3227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60B3BFD-86D0-C04A-9C9A-5B34D64750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8575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2E1D7-3684-9578-87B6-DADEB60F9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B85A77-0662-6A08-6E27-53F0A2947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4F474FE-FE19-8FF8-E5A0-CB00AC427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BB050B-5BD5-B101-7442-C3E77C36BB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53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22811-E885-A722-2E49-1DA74655D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9184E0B-4B70-F138-712D-500E0DD10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0FCDD58-18AD-7D49-1966-F0EEB180DD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73BBC1-68D5-60E1-66DF-0B6124B56F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55340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60DF-7A98-86CC-AB52-0ACFD1D16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07DF59-8EBA-8FBD-2DB8-8780D19D4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CFDE180-2584-45D4-E781-946D36F21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2097C5-4EB3-2E26-CD62-5D1E7A18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44167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BCA3-2063-972D-A5B7-A97666249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918F362-8681-381D-12CA-2522202B4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1440675-80EA-9484-E7B8-2F9077FD4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E406FB-0D3A-A191-15DA-DC5C072714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06729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B8546-5251-BF13-5E5F-588FBEAD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75707F7-760E-6CCA-45F4-BAC7DA9AD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E778981-1236-3D8B-7FBE-416493275E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16A4CBA-454D-145F-7A70-A26AF8F57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984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DC9CD-9F87-1E5C-B8FE-1158559C8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7F9628C-3D55-2DB5-5E48-5875053289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6C65764-D7A9-19A1-CFFF-866E9467D3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2DE1B95-5D32-0758-0B8E-DDBEB6F05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5716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97663-209E-5E15-4121-96488137A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BBBC9E9-4793-4BB0-0EB9-EA01F43C29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2E504A4-4608-1043-CF6A-ABCE7F80B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EF30C7-B3CF-3C08-67DB-49C1D6F385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E988AA-24F5-4F6A-86F5-E71935EC0AB1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7748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5BCDA2-460D-98DA-AB07-68FFBF4378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5F949E-8B50-2EEE-8D06-D50042A92B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79CD88-A013-9B8F-13AC-5A67FBC87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C6A847-C8DC-6B7B-6C30-70EEDC913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AFB346-8A60-10ED-A042-897EF6EB9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6680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B48413-2EF1-0BE9-1612-CB33E650D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64FEB1-AF3A-5493-0A25-A42FB1E95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1965A9-BF63-8F42-F441-EFAD77A2E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EA9884-6E46-1FCE-B082-FC94FB12F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1A418-6C7B-C846-2116-D4E43506B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0999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2D9FBE-2073-E12A-0672-D0CC32C1D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1986B8-B3A7-B50B-C237-EA04DBB9A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80D63E-2DB6-863A-E3D4-B6AB82F7D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00A273-68A2-EC2B-7B24-70D6EFC85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BA652A-1D0E-7E08-729D-A9667BA32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4925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33A0B6-DEBA-47C0-32C2-49A0DBE11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C9522C-615B-C16B-8CED-03D4850BB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49C08E7-ADA6-A1BA-5E2A-9C05D9EDD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A06046C-0F99-C4E2-B28C-E0F4F520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6829D3-253B-A8BB-F7F5-CF4811AA9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4AB442-64CD-29B1-852B-85E120491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249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CF2110-8DC6-C912-8C91-D7B16207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E38474C-941A-2374-FA18-B3F2959F6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EB8191C-8816-CBDA-C0AC-95159CD53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55D5B5E-4F43-2FBE-2C97-6A7185239D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CC457F7-3610-CC71-336A-2F90DBDA8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F8BA50C-82A6-5D0D-F70E-07EA94CB4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1AD88B8-BC2A-206F-F7D6-46FDFA68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300D655-8CD9-F17A-553E-4DB45FDE1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9098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85208-85EE-F438-E9A6-21DDE5252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C621E19-B84C-7EB3-5BD7-FC0474F61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D89F803-E8AE-728C-857C-FA8D1B31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35A8451-7F58-705A-62E0-7FBD1D304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93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39AD874-5F4D-D1DE-E362-64EB80DF9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E1DB9F2-F627-60B2-4FD0-AA279E01D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AD72C6-5BB9-ADFA-09BB-A67BE3936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80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95417-6DF0-49E4-EBA3-53D096750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DD2C0-A41E-85ED-BF12-6E195D563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F183719-FF91-25EC-8E04-259CA2FE4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13145D-0C40-2A34-856B-0031FAFFA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4E96ED-BC3F-70D9-CADC-687239F17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2EA2F7-4640-C9B1-B8E7-9AB2715F6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2620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A28737-D156-748E-DF50-4E3B04099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7914BC7-2CD8-7959-AAE6-916408F56D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6D553F-E998-C9AB-579F-7AB4EC1BF0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2D88F67-7FE1-2BA6-048A-3EA41752B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AB010D6-54AD-2D40-E5DE-8CA43BD4C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2B256C-56A8-DA8A-3263-D51BC5C88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6748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26ACB9-E784-BEC7-9115-46C7E57E4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3467E2-0111-1F62-5331-1457B6C4FB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2F95AA-D0CF-EF41-06FC-74B1A9E4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14FF9C-17AC-65A3-A849-905B8AF62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BA5AC-8A15-7A6D-EB83-125D01387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3114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2C918F0-A18F-2CBD-39A8-08854CB3A0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D36608E-86E3-DBA5-4986-FABFFCD08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6A12D2-30F6-D1CA-885A-FE722C603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655BC72-A458-7E8B-2FAC-83079FD26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8B2896-98BE-8A95-2D96-78EC2547D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313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DE5915A-7E53-6D5B-A264-E9E5C14EF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39D93A-288F-81B0-02C8-5688CE9C5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8D80C3-C8ED-675A-3D8B-AD691E9067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83E117-15A3-166D-6035-78B11E70F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DCD061-7709-7A67-1A3F-B1B9B43D03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9660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D03A9-014E-7772-E539-6DD3E4AE8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7FBDAA-B45C-FC44-8130-FDD923565EFF}"/>
              </a:ext>
            </a:extLst>
          </p:cNvPr>
          <p:cNvSpPr/>
          <p:nvPr/>
        </p:nvSpPr>
        <p:spPr>
          <a:xfrm>
            <a:off x="0" y="1"/>
            <a:ext cx="679409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BED3869-FDFA-C579-A8CF-1C8724B7C289}"/>
              </a:ext>
            </a:extLst>
          </p:cNvPr>
          <p:cNvSpPr txBox="1"/>
          <p:nvPr/>
        </p:nvSpPr>
        <p:spPr>
          <a:xfrm>
            <a:off x="761097" y="1808446"/>
            <a:ext cx="9340645" cy="1200329"/>
          </a:xfrm>
          <a:prstGeom prst="rect">
            <a:avLst/>
          </a:prstGeom>
          <a:noFill/>
          <a:ln w="4762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Challenge Web Mining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DE91B8F-5FA4-9E45-F1AF-249E48EDA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34611"/>
            <a:ext cx="3215481" cy="172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0E46E25E-1C8B-974A-2ECE-92B9DA71814F}"/>
              </a:ext>
            </a:extLst>
          </p:cNvPr>
          <p:cNvSpPr txBox="1"/>
          <p:nvPr/>
        </p:nvSpPr>
        <p:spPr>
          <a:xfrm>
            <a:off x="9259746" y="5534640"/>
            <a:ext cx="26737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Olivier BOROT</a:t>
            </a:r>
          </a:p>
          <a:p>
            <a:pPr algn="r"/>
            <a:r>
              <a:rPr lang="fr-FR" dirty="0"/>
              <a:t> Marin NAGY</a:t>
            </a:r>
          </a:p>
          <a:p>
            <a:pPr algn="r"/>
            <a:r>
              <a:rPr lang="fr-FR" dirty="0"/>
              <a:t>  Léo-Paul </a:t>
            </a:r>
            <a:r>
              <a:rPr lang="fr-FR" dirty="0" err="1"/>
              <a:t>Knoepffler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80E0E0C-53C0-B161-3D19-8F6A3F08CD9E}"/>
              </a:ext>
            </a:extLst>
          </p:cNvPr>
          <p:cNvSpPr txBox="1"/>
          <p:nvPr/>
        </p:nvSpPr>
        <p:spPr>
          <a:xfrm>
            <a:off x="8866208" y="5134611"/>
            <a:ext cx="306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Master 2 SISE – Mars 2026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5503320-C6F5-C7DE-B803-9C50AFF8A583}"/>
              </a:ext>
            </a:extLst>
          </p:cNvPr>
          <p:cNvSpPr txBox="1"/>
          <p:nvPr/>
        </p:nvSpPr>
        <p:spPr>
          <a:xfrm>
            <a:off x="735667" y="3290187"/>
            <a:ext cx="5972538" cy="1569660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r>
              <a:rPr lang="fr-FR" sz="3200" dirty="0"/>
              <a:t>Analyses des comportements via les mouvements de souris sur un site marchand</a:t>
            </a: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26AED1F9-2FD9-5AD9-E5ED-051B54B567E6}"/>
              </a:ext>
            </a:extLst>
          </p:cNvPr>
          <p:cNvGrpSpPr/>
          <p:nvPr/>
        </p:nvGrpSpPr>
        <p:grpSpPr>
          <a:xfrm>
            <a:off x="6991109" y="3283538"/>
            <a:ext cx="4942390" cy="1576309"/>
            <a:chOff x="6886937" y="3240911"/>
            <a:chExt cx="4942390" cy="1576309"/>
          </a:xfrm>
        </p:grpSpPr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1013C9FF-0EC3-ECD0-3F93-9FA93B0BBFBF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7457B7A1-A555-3E87-A184-4BDEF02DB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559AE2F3-A6A4-49F9-1DF5-E7AD4257E9BC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19427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6DBA0-3CA7-7E46-3DF5-6A65F3486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8CD86519-FD27-3030-B429-51A0DFCBA542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3BAFD3-B6A1-C390-38F4-64585379EE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659A82-6721-FA1F-268B-EB8BEDFBAB0D}"/>
              </a:ext>
            </a:extLst>
          </p:cNvPr>
          <p:cNvSpPr/>
          <p:nvPr/>
        </p:nvSpPr>
        <p:spPr>
          <a:xfrm>
            <a:off x="221848" y="182301"/>
            <a:ext cx="11748303" cy="6493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AA5700B-CFE1-0D6D-7A2D-0DF5B065C76C}"/>
              </a:ext>
            </a:extLst>
          </p:cNvPr>
          <p:cNvSpPr txBox="1"/>
          <p:nvPr/>
        </p:nvSpPr>
        <p:spPr>
          <a:xfrm>
            <a:off x="546117" y="767227"/>
            <a:ext cx="4685640" cy="646331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r>
              <a:rPr lang="fr-FR" sz="3600" dirty="0"/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5AEFB4-748B-F124-4777-C6AEC54E0288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48D0A4EF-D4E6-4021-DAA2-1D1108856A6C}"/>
              </a:ext>
            </a:extLst>
          </p:cNvPr>
          <p:cNvGrpSpPr/>
          <p:nvPr/>
        </p:nvGrpSpPr>
        <p:grpSpPr>
          <a:xfrm>
            <a:off x="6825788" y="618602"/>
            <a:ext cx="4685640" cy="1494422"/>
            <a:chOff x="6886937" y="3240911"/>
            <a:chExt cx="4942390" cy="1576309"/>
          </a:xfrm>
        </p:grpSpPr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4B3696D6-DEF8-60C4-93DC-540FB16FD759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DCE2CB6B-93B7-E97E-6F49-94DB33FFC5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26" name="ZoneTexte 25">
            <a:extLst>
              <a:ext uri="{FF2B5EF4-FFF2-40B4-BE49-F238E27FC236}">
                <a16:creationId xmlns:a16="http://schemas.microsoft.com/office/drawing/2014/main" id="{3F750E6E-85FA-4F61-0EB8-BE0E598CAE77}"/>
              </a:ext>
            </a:extLst>
          </p:cNvPr>
          <p:cNvSpPr txBox="1"/>
          <p:nvPr/>
        </p:nvSpPr>
        <p:spPr>
          <a:xfrm>
            <a:off x="546117" y="2343328"/>
            <a:ext cx="10965310" cy="3356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400" b="1" dirty="0"/>
              <a:t>Objectif</a:t>
            </a:r>
            <a:r>
              <a:rPr lang="fr-FR" sz="2400" dirty="0"/>
              <a:t> : détecter et analyser comportements utilisateurs et bots à partir de traces souris.</a:t>
            </a:r>
          </a:p>
          <a:p>
            <a:r>
              <a:rPr lang="fr-FR" sz="2400" b="1" dirty="0"/>
              <a:t>Données</a:t>
            </a:r>
            <a:r>
              <a:rPr lang="fr-FR" sz="2400" dirty="0"/>
              <a:t> : sessions d’interactions </a:t>
            </a:r>
          </a:p>
          <a:p>
            <a:r>
              <a:rPr lang="fr-FR" sz="2400" b="1" dirty="0"/>
              <a:t>Approche</a:t>
            </a:r>
            <a:r>
              <a:rPr lang="fr-FR" sz="2400" dirty="0"/>
              <a:t> : extraction de </a:t>
            </a:r>
            <a:r>
              <a:rPr lang="fr-FR" sz="2400" dirty="0" err="1"/>
              <a:t>features</a:t>
            </a:r>
            <a:r>
              <a:rPr lang="fr-FR" sz="2400" dirty="0"/>
              <a:t>, analyses non-supervisées et supervisées, détection de bots.</a:t>
            </a:r>
          </a:p>
          <a:p>
            <a:r>
              <a:rPr lang="fr-FR" sz="2400" b="1" dirty="0"/>
              <a:t>Résultat attendu</a:t>
            </a:r>
            <a:r>
              <a:rPr lang="fr-FR" sz="2400" dirty="0"/>
              <a:t> : pipeline réutilisable et visualisations pour interprétation.</a:t>
            </a:r>
          </a:p>
        </p:txBody>
      </p:sp>
    </p:spTree>
    <p:extLst>
      <p:ext uri="{BB962C8B-B14F-4D97-AF65-F5344CB8AC3E}">
        <p14:creationId xmlns:p14="http://schemas.microsoft.com/office/powerpoint/2010/main" val="31701947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CF893-EF00-E98E-FB1D-02D46CDF4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CB8A5F35-5BC6-A911-7680-A089DCDCA81B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D2929-E9DF-A297-81C5-71D792069E0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6DB7D8-20D7-456A-BE1A-E20C7E6717DB}"/>
              </a:ext>
            </a:extLst>
          </p:cNvPr>
          <p:cNvSpPr/>
          <p:nvPr/>
        </p:nvSpPr>
        <p:spPr>
          <a:xfrm>
            <a:off x="221848" y="182301"/>
            <a:ext cx="11748303" cy="6493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89E5A7A4-6B7C-0B53-F750-7E3F98C248F9}"/>
              </a:ext>
            </a:extLst>
          </p:cNvPr>
          <p:cNvSpPr txBox="1"/>
          <p:nvPr/>
        </p:nvSpPr>
        <p:spPr>
          <a:xfrm>
            <a:off x="546117" y="767227"/>
            <a:ext cx="4685640" cy="646331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r>
              <a:rPr lang="fr-FR" sz="3600" dirty="0"/>
              <a:t>Présentation du projet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082DC92-068A-682A-207A-6D7678D0A6ED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A52CDD6-4B44-EDFF-8318-5E464EF5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766" y="1595043"/>
            <a:ext cx="9784466" cy="4719627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7A240F23-039E-6B21-2B2D-C24BF7BF768B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787EF401-C9B0-74F3-83CE-6EB9F5B98002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9DF8AF5D-1150-54E1-D083-C4C483D0C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11813126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0B8CF-B227-6A6D-5913-DB90986BF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1FA740-64AC-FF59-AF39-46EFD5D5FBC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58B394-90F4-8657-CED4-AA6963AC47AA}"/>
              </a:ext>
            </a:extLst>
          </p:cNvPr>
          <p:cNvSpPr/>
          <p:nvPr/>
        </p:nvSpPr>
        <p:spPr>
          <a:xfrm>
            <a:off x="221848" y="7294387"/>
            <a:ext cx="11748303" cy="2139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412AC16-E050-A875-EFD5-76ED2D47533F}"/>
              </a:ext>
            </a:extLst>
          </p:cNvPr>
          <p:cNvSpPr txBox="1"/>
          <p:nvPr/>
        </p:nvSpPr>
        <p:spPr>
          <a:xfrm>
            <a:off x="3753179" y="526957"/>
            <a:ext cx="4685640" cy="769441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pPr algn="ctr"/>
            <a:r>
              <a:rPr lang="fr-FR" sz="4400" dirty="0"/>
              <a:t>Sommaire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D8BFCDA8-F3EF-CB5F-2012-10BFA8F91661}"/>
              </a:ext>
            </a:extLst>
          </p:cNvPr>
          <p:cNvSpPr/>
          <p:nvPr/>
        </p:nvSpPr>
        <p:spPr>
          <a:xfrm>
            <a:off x="511409" y="1325880"/>
            <a:ext cx="999994" cy="928642"/>
          </a:xfrm>
          <a:prstGeom prst="roundRect">
            <a:avLst>
              <a:gd name="adj" fmla="val 1118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>
                <a:solidFill>
                  <a:schemeClr val="tx1"/>
                </a:solidFill>
                <a:latin typeface="Abadi" panose="020B0604020104020204" pitchFamily="34" charset="0"/>
              </a:rPr>
              <a:t>1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FD7AC9BC-0D55-AD87-B283-FA1C78499161}"/>
              </a:ext>
            </a:extLst>
          </p:cNvPr>
          <p:cNvSpPr/>
          <p:nvPr/>
        </p:nvSpPr>
        <p:spPr>
          <a:xfrm>
            <a:off x="511409" y="2377440"/>
            <a:ext cx="999994" cy="928642"/>
          </a:xfrm>
          <a:prstGeom prst="roundRect">
            <a:avLst>
              <a:gd name="adj" fmla="val 1118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>
                <a:solidFill>
                  <a:schemeClr val="tx1"/>
                </a:solidFill>
                <a:latin typeface="Abadi" panose="020B0604020104020204" pitchFamily="34" charset="0"/>
              </a:rPr>
              <a:t>2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A4D56EAF-8EE9-6205-755E-19B6CDEAF38C}"/>
              </a:ext>
            </a:extLst>
          </p:cNvPr>
          <p:cNvSpPr/>
          <p:nvPr/>
        </p:nvSpPr>
        <p:spPr>
          <a:xfrm>
            <a:off x="511409" y="3429000"/>
            <a:ext cx="999994" cy="928642"/>
          </a:xfrm>
          <a:prstGeom prst="roundRect">
            <a:avLst>
              <a:gd name="adj" fmla="val 1118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>
                <a:solidFill>
                  <a:schemeClr val="tx1"/>
                </a:solidFill>
                <a:latin typeface="Abadi" panose="020B0604020104020204" pitchFamily="34" charset="0"/>
              </a:rPr>
              <a:t>3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CB715697-A06F-B6FF-B203-21D743F3DB2C}"/>
              </a:ext>
            </a:extLst>
          </p:cNvPr>
          <p:cNvSpPr/>
          <p:nvPr/>
        </p:nvSpPr>
        <p:spPr>
          <a:xfrm>
            <a:off x="511409" y="4480560"/>
            <a:ext cx="999994" cy="928642"/>
          </a:xfrm>
          <a:prstGeom prst="roundRect">
            <a:avLst>
              <a:gd name="adj" fmla="val 1118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>
                <a:solidFill>
                  <a:schemeClr val="tx1"/>
                </a:solidFill>
                <a:latin typeface="Abadi" panose="020B0604020104020204" pitchFamily="34" charset="0"/>
              </a:rPr>
              <a:t>4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D0DEF3A-901D-51E4-0CA7-16B9AF64C51E}"/>
              </a:ext>
            </a:extLst>
          </p:cNvPr>
          <p:cNvSpPr/>
          <p:nvPr/>
        </p:nvSpPr>
        <p:spPr>
          <a:xfrm>
            <a:off x="511409" y="5532120"/>
            <a:ext cx="999994" cy="928642"/>
          </a:xfrm>
          <a:prstGeom prst="roundRect">
            <a:avLst>
              <a:gd name="adj" fmla="val 11183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>
                <a:solidFill>
                  <a:schemeClr val="tx1"/>
                </a:solidFill>
                <a:latin typeface="Abadi" panose="020B0604020104020204" pitchFamily="34" charset="0"/>
              </a:rPr>
              <a:t>5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B58398D-C830-7336-E1AC-9AE56CFB311F}"/>
              </a:ext>
            </a:extLst>
          </p:cNvPr>
          <p:cNvSpPr txBox="1"/>
          <p:nvPr/>
        </p:nvSpPr>
        <p:spPr>
          <a:xfrm>
            <a:off x="1623059" y="1497813"/>
            <a:ext cx="894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Abadi" panose="020B0604020104020204" pitchFamily="34" charset="0"/>
              </a:rPr>
              <a:t>Présentation des données de la souris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2C12CF5-FF20-22F0-D0F6-4A6A87FC9E30}"/>
              </a:ext>
            </a:extLst>
          </p:cNvPr>
          <p:cNvSpPr txBox="1"/>
          <p:nvPr/>
        </p:nvSpPr>
        <p:spPr>
          <a:xfrm>
            <a:off x="1623059" y="2549373"/>
            <a:ext cx="894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Abadi" panose="020B0604020104020204" pitchFamily="34" charset="0"/>
              </a:rPr>
              <a:t>Détection de bots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4E5AFF4-291B-BC57-7344-66C11C45046F}"/>
              </a:ext>
            </a:extLst>
          </p:cNvPr>
          <p:cNvSpPr txBox="1"/>
          <p:nvPr/>
        </p:nvSpPr>
        <p:spPr>
          <a:xfrm>
            <a:off x="1623059" y="3600933"/>
            <a:ext cx="894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Abadi" panose="020B0604020104020204" pitchFamily="34" charset="0"/>
              </a:rPr>
              <a:t>Analyse comportementale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5B10EC5-F1E7-FCB2-CEC7-F71B87F0A769}"/>
              </a:ext>
            </a:extLst>
          </p:cNvPr>
          <p:cNvSpPr txBox="1"/>
          <p:nvPr/>
        </p:nvSpPr>
        <p:spPr>
          <a:xfrm>
            <a:off x="1623059" y="4652493"/>
            <a:ext cx="894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Abadi" panose="020B0604020104020204" pitchFamily="34" charset="0"/>
              </a:rPr>
              <a:t>Analyse comportementale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1873BDE-CC94-3ABB-1FB5-0407D74C209B}"/>
              </a:ext>
            </a:extLst>
          </p:cNvPr>
          <p:cNvSpPr txBox="1"/>
          <p:nvPr/>
        </p:nvSpPr>
        <p:spPr>
          <a:xfrm>
            <a:off x="1623059" y="5704053"/>
            <a:ext cx="8945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dirty="0">
                <a:latin typeface="Abadi" panose="020B0604020104020204" pitchFamily="34" charset="0"/>
              </a:rPr>
              <a:t>Démonstration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A3BC27DF-1926-4BA3-CEED-91B2047C68AA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25" name="Rectangle : coins arrondis 24">
              <a:extLst>
                <a:ext uri="{FF2B5EF4-FFF2-40B4-BE49-F238E27FC236}">
                  <a16:creationId xmlns:a16="http://schemas.microsoft.com/office/drawing/2014/main" id="{A29F7B73-E347-CF02-D6E2-2D195273C033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64433122-FFFE-E605-F655-54A0DCAFC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7520413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D1EB6-3177-C3BF-9BCF-3837C8019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F489A880-B1F4-0C37-EF4D-67BD6E719B5D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BCDE47-9F4A-F306-6C67-DA985636DCB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493EEB-7A80-8C1C-08D3-D5B44FC09BF8}"/>
              </a:ext>
            </a:extLst>
          </p:cNvPr>
          <p:cNvSpPr/>
          <p:nvPr/>
        </p:nvSpPr>
        <p:spPr>
          <a:xfrm>
            <a:off x="383893" y="344347"/>
            <a:ext cx="11424213" cy="61693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180E279-38DD-1AAB-5F1D-1018FFDE6F36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3BC70196-97D0-122D-AB9B-67336ADA1433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D64699C-3305-7D13-F816-7A7626945B78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58DE1E1A-6A8C-F5E3-C07A-313E3E4EA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5628660E-10E3-572A-BDF1-1ED01616BF56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Présentation des données de la souris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D5999AD-8050-E982-7D9C-251C80270817}"/>
              </a:ext>
            </a:extLst>
          </p:cNvPr>
          <p:cNvSpPr txBox="1"/>
          <p:nvPr/>
        </p:nvSpPr>
        <p:spPr>
          <a:xfrm>
            <a:off x="680572" y="1753193"/>
            <a:ext cx="10180321" cy="4158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altLang="fr-FR" sz="3600" dirty="0">
                <a:latin typeface="Abadi" panose="020B0604020104020204" pitchFamily="34" charset="0"/>
              </a:rPr>
              <a:t>Données disponibles :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altLang="fr-FR" sz="3600" dirty="0">
                <a:latin typeface="Abadi" panose="020B0604020104020204" pitchFamily="34" charset="0"/>
              </a:rPr>
              <a:t>- Position X et Y du curseur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altLang="fr-FR" sz="3600" dirty="0">
                <a:latin typeface="Abadi" panose="020B0604020104020204" pitchFamily="34" charset="0"/>
              </a:rPr>
              <a:t>- Horodatage des mouvements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altLang="fr-FR" sz="3600" dirty="0">
                <a:latin typeface="Abadi" panose="020B0604020104020204" pitchFamily="34" charset="0"/>
              </a:rPr>
              <a:t>- Événements de clics / boutons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fr-FR" altLang="fr-FR" sz="3600" dirty="0">
                <a:latin typeface="Abadi" panose="020B0604020104020204" pitchFamily="34" charset="0"/>
              </a:rPr>
              <a:t>- Séquences utilisateur au fil de la session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2F9FAC79-8E72-1141-0621-F23B5D4750A3}"/>
              </a:ext>
            </a:extLst>
          </p:cNvPr>
          <p:cNvGrpSpPr/>
          <p:nvPr/>
        </p:nvGrpSpPr>
        <p:grpSpPr>
          <a:xfrm>
            <a:off x="611083" y="7151916"/>
            <a:ext cx="11167670" cy="3096782"/>
            <a:chOff x="569059" y="2496237"/>
            <a:chExt cx="11167670" cy="3096782"/>
          </a:xfrm>
        </p:grpSpPr>
        <p:sp>
          <p:nvSpPr>
            <p:cNvPr id="21" name="Rectangle : coins arrondis 20">
              <a:extLst>
                <a:ext uri="{FF2B5EF4-FFF2-40B4-BE49-F238E27FC236}">
                  <a16:creationId xmlns:a16="http://schemas.microsoft.com/office/drawing/2014/main" id="{626D3A80-F198-2C03-6115-DDC339E4DC3B}"/>
                </a:ext>
              </a:extLst>
            </p:cNvPr>
            <p:cNvSpPr/>
            <p:nvPr/>
          </p:nvSpPr>
          <p:spPr>
            <a:xfrm>
              <a:off x="569059" y="2496237"/>
              <a:ext cx="2234364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Interface utilisateur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HTML</a:t>
              </a:r>
            </a:p>
          </p:txBody>
        </p:sp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7DF15959-3D48-E0DC-D404-2E7CC1830C88}"/>
                </a:ext>
              </a:extLst>
            </p:cNvPr>
            <p:cNvSpPr/>
            <p:nvPr/>
          </p:nvSpPr>
          <p:spPr>
            <a:xfrm>
              <a:off x="3230548" y="2549655"/>
              <a:ext cx="2151440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Captures des logs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JS</a:t>
              </a:r>
            </a:p>
          </p:txBody>
        </p:sp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865FD014-7437-A895-D4EF-627454CB75F2}"/>
                </a:ext>
              </a:extLst>
            </p:cNvPr>
            <p:cNvSpPr/>
            <p:nvPr/>
          </p:nvSpPr>
          <p:spPr>
            <a:xfrm>
              <a:off x="5824847" y="2496237"/>
              <a:ext cx="3028491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Transformation des données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Python</a:t>
              </a:r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CAA4370E-80F6-51C1-6EEE-14D13FD95CA3}"/>
                </a:ext>
              </a:extLst>
            </p:cNvPr>
            <p:cNvSpPr/>
            <p:nvPr/>
          </p:nvSpPr>
          <p:spPr>
            <a:xfrm>
              <a:off x="9296197" y="2496237"/>
              <a:ext cx="2440532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Prédiction du modèle</a:t>
              </a:r>
            </a:p>
          </p:txBody>
        </p:sp>
        <p:sp>
          <p:nvSpPr>
            <p:cNvPr id="25" name="Flèche : droite 24">
              <a:extLst>
                <a:ext uri="{FF2B5EF4-FFF2-40B4-BE49-F238E27FC236}">
                  <a16:creationId xmlns:a16="http://schemas.microsoft.com/office/drawing/2014/main" id="{07093045-E1BD-7541-387E-B1F9655D1C8E}"/>
                </a:ext>
              </a:extLst>
            </p:cNvPr>
            <p:cNvSpPr/>
            <p:nvPr/>
          </p:nvSpPr>
          <p:spPr>
            <a:xfrm>
              <a:off x="262745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Flèche : droite 25">
              <a:extLst>
                <a:ext uri="{FF2B5EF4-FFF2-40B4-BE49-F238E27FC236}">
                  <a16:creationId xmlns:a16="http://schemas.microsoft.com/office/drawing/2014/main" id="{E7B6235D-649D-1F3D-F478-79E67679CFB0}"/>
                </a:ext>
              </a:extLst>
            </p:cNvPr>
            <p:cNvSpPr/>
            <p:nvPr/>
          </p:nvSpPr>
          <p:spPr>
            <a:xfrm>
              <a:off x="521864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Flèche : droite 26">
              <a:extLst>
                <a:ext uri="{FF2B5EF4-FFF2-40B4-BE49-F238E27FC236}">
                  <a16:creationId xmlns:a16="http://schemas.microsoft.com/office/drawing/2014/main" id="{76495F72-E9D5-5E78-6214-ED9877904DBB}"/>
                </a:ext>
              </a:extLst>
            </p:cNvPr>
            <p:cNvSpPr/>
            <p:nvPr/>
          </p:nvSpPr>
          <p:spPr>
            <a:xfrm>
              <a:off x="8687191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0715116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CC680-5753-8A64-D2F8-20A238714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D6CBAA9F-86F7-DBE1-06E7-49BE43BA0369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518D3E-4A71-9E25-0F76-6E7926363D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B41DDF-EDF3-1CA4-F839-FEEBC759C455}"/>
              </a:ext>
            </a:extLst>
          </p:cNvPr>
          <p:cNvSpPr/>
          <p:nvPr/>
        </p:nvSpPr>
        <p:spPr>
          <a:xfrm>
            <a:off x="221848" y="182301"/>
            <a:ext cx="11748303" cy="6493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BD6102-12BA-1E91-F96B-4B65EDE51F33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46D9BE2A-C895-EBB6-39B5-6DF14B32776E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22057BB6-CE09-4B3F-667E-07F28FCA657C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10D8B701-E6AF-5944-EB6F-F36768BC3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10" name="ZoneTexte 9">
            <a:extLst>
              <a:ext uri="{FF2B5EF4-FFF2-40B4-BE49-F238E27FC236}">
                <a16:creationId xmlns:a16="http://schemas.microsoft.com/office/drawing/2014/main" id="{A6C3AE6E-A8C1-C4AC-0B85-235A7CF2B54C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Présentation des données de la souris</a:t>
            </a:r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9AE70E9C-E821-666B-CD5B-EF3259642B4A}"/>
              </a:ext>
            </a:extLst>
          </p:cNvPr>
          <p:cNvGrpSpPr/>
          <p:nvPr/>
        </p:nvGrpSpPr>
        <p:grpSpPr>
          <a:xfrm>
            <a:off x="396240" y="2334548"/>
            <a:ext cx="5059680" cy="4013073"/>
            <a:chOff x="396240" y="2334548"/>
            <a:chExt cx="5059680" cy="4013073"/>
          </a:xfrm>
        </p:grpSpPr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CFD9859B-6EBF-E9D7-8752-14F720C29589}"/>
                </a:ext>
              </a:extLst>
            </p:cNvPr>
            <p:cNvSpPr/>
            <p:nvPr/>
          </p:nvSpPr>
          <p:spPr>
            <a:xfrm>
              <a:off x="396240" y="2334548"/>
              <a:ext cx="5059680" cy="3992883"/>
            </a:xfrm>
            <a:prstGeom prst="roundRect">
              <a:avLst>
                <a:gd name="adj" fmla="val 7507"/>
              </a:avLst>
            </a:prstGeom>
            <a:solidFill>
              <a:srgbClr val="F4F5F7"/>
            </a:solidFill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3A8AA21-84AE-210D-7B79-7B4C29D6B3E0}"/>
                </a:ext>
              </a:extLst>
            </p:cNvPr>
            <p:cNvSpPr txBox="1"/>
            <p:nvPr/>
          </p:nvSpPr>
          <p:spPr>
            <a:xfrm>
              <a:off x="1275916" y="5701290"/>
              <a:ext cx="3246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fr-FR"/>
              </a:defPPr>
              <a:lvl1pPr>
                <a:defRPr sz="3600">
                  <a:latin typeface="Abadi" panose="020B0604020104020204" pitchFamily="34" charset="0"/>
                </a:defRPr>
              </a:lvl1pPr>
            </a:lstStyle>
            <a:p>
              <a:pPr algn="ctr"/>
              <a:r>
                <a:rPr lang="fr-FR" dirty="0"/>
                <a:t>Côté client</a:t>
              </a:r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979BA173-28A7-BD5E-FFBA-6AE8D906A344}"/>
              </a:ext>
            </a:extLst>
          </p:cNvPr>
          <p:cNvGrpSpPr/>
          <p:nvPr/>
        </p:nvGrpSpPr>
        <p:grpSpPr>
          <a:xfrm>
            <a:off x="5779438" y="2334547"/>
            <a:ext cx="6016321" cy="3992883"/>
            <a:chOff x="5779438" y="2334547"/>
            <a:chExt cx="6016321" cy="3992883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2CFD89B6-B6A2-8E75-C230-1A19C44F190D}"/>
                </a:ext>
              </a:extLst>
            </p:cNvPr>
            <p:cNvSpPr/>
            <p:nvPr/>
          </p:nvSpPr>
          <p:spPr>
            <a:xfrm>
              <a:off x="5779438" y="2334547"/>
              <a:ext cx="6016321" cy="3992883"/>
            </a:xfrm>
            <a:prstGeom prst="roundRect">
              <a:avLst>
                <a:gd name="adj" fmla="val 7507"/>
              </a:avLst>
            </a:prstGeom>
            <a:solidFill>
              <a:srgbClr val="F4F5F7"/>
            </a:solidFill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FB700258-04CB-2A39-32FB-52CB109ACE6E}"/>
                </a:ext>
              </a:extLst>
            </p:cNvPr>
            <p:cNvSpPr txBox="1"/>
            <p:nvPr/>
          </p:nvSpPr>
          <p:spPr>
            <a:xfrm>
              <a:off x="7211896" y="5667389"/>
              <a:ext cx="3246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fr-FR"/>
              </a:defPPr>
              <a:lvl1pPr>
                <a:defRPr sz="3600">
                  <a:latin typeface="Abadi" panose="020B0604020104020204" pitchFamily="34" charset="0"/>
                </a:defRPr>
              </a:lvl1pPr>
            </a:lstStyle>
            <a:p>
              <a:pPr algn="ctr"/>
              <a:r>
                <a:rPr lang="fr-FR" dirty="0"/>
                <a:t>Côté serveur</a:t>
              </a: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228C0259-4FEA-C33C-C323-71DA4454BC59}"/>
              </a:ext>
            </a:extLst>
          </p:cNvPr>
          <p:cNvGrpSpPr/>
          <p:nvPr/>
        </p:nvGrpSpPr>
        <p:grpSpPr>
          <a:xfrm>
            <a:off x="569059" y="2496237"/>
            <a:ext cx="11167670" cy="3096782"/>
            <a:chOff x="569059" y="2496237"/>
            <a:chExt cx="11167670" cy="3096782"/>
          </a:xfrm>
        </p:grpSpPr>
        <p:sp>
          <p:nvSpPr>
            <p:cNvPr id="2" name="Rectangle : coins arrondis 1">
              <a:extLst>
                <a:ext uri="{FF2B5EF4-FFF2-40B4-BE49-F238E27FC236}">
                  <a16:creationId xmlns:a16="http://schemas.microsoft.com/office/drawing/2014/main" id="{1D10C628-1409-51E7-A982-154A444465EC}"/>
                </a:ext>
              </a:extLst>
            </p:cNvPr>
            <p:cNvSpPr/>
            <p:nvPr/>
          </p:nvSpPr>
          <p:spPr>
            <a:xfrm>
              <a:off x="569059" y="2496237"/>
              <a:ext cx="2234364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Interface utilisateur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HTML</a:t>
              </a:r>
            </a:p>
          </p:txBody>
        </p:sp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EF5A38FA-D403-413B-F10E-22FABA93B141}"/>
                </a:ext>
              </a:extLst>
            </p:cNvPr>
            <p:cNvSpPr/>
            <p:nvPr/>
          </p:nvSpPr>
          <p:spPr>
            <a:xfrm>
              <a:off x="3230548" y="2549655"/>
              <a:ext cx="2151440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Captures des logs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JS</a:t>
              </a:r>
            </a:p>
          </p:txBody>
        </p:sp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734DB21C-FD7D-1525-DDA9-93979298F54D}"/>
                </a:ext>
              </a:extLst>
            </p:cNvPr>
            <p:cNvSpPr/>
            <p:nvPr/>
          </p:nvSpPr>
          <p:spPr>
            <a:xfrm>
              <a:off x="5824847" y="2496237"/>
              <a:ext cx="3028491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Transformation des données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Python</a:t>
              </a:r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D767BE79-595A-0095-E8E9-75B9A239D8E6}"/>
                </a:ext>
              </a:extLst>
            </p:cNvPr>
            <p:cNvSpPr/>
            <p:nvPr/>
          </p:nvSpPr>
          <p:spPr>
            <a:xfrm>
              <a:off x="9296197" y="2496237"/>
              <a:ext cx="2440532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Prédiction du modèle</a:t>
              </a:r>
            </a:p>
          </p:txBody>
        </p:sp>
        <p:sp>
          <p:nvSpPr>
            <p:cNvPr id="8" name="Flèche : droite 7">
              <a:extLst>
                <a:ext uri="{FF2B5EF4-FFF2-40B4-BE49-F238E27FC236}">
                  <a16:creationId xmlns:a16="http://schemas.microsoft.com/office/drawing/2014/main" id="{1804B766-78F5-8F7F-8D79-6D06C22888CB}"/>
                </a:ext>
              </a:extLst>
            </p:cNvPr>
            <p:cNvSpPr/>
            <p:nvPr/>
          </p:nvSpPr>
          <p:spPr>
            <a:xfrm>
              <a:off x="262745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lèche : droite 13">
              <a:extLst>
                <a:ext uri="{FF2B5EF4-FFF2-40B4-BE49-F238E27FC236}">
                  <a16:creationId xmlns:a16="http://schemas.microsoft.com/office/drawing/2014/main" id="{8E0AEAE7-6466-E236-E80E-78EBDAA9B9CE}"/>
                </a:ext>
              </a:extLst>
            </p:cNvPr>
            <p:cNvSpPr/>
            <p:nvPr/>
          </p:nvSpPr>
          <p:spPr>
            <a:xfrm>
              <a:off x="521864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07686491-3D38-66E9-351E-D5B002B62EDA}"/>
                </a:ext>
              </a:extLst>
            </p:cNvPr>
            <p:cNvSpPr/>
            <p:nvPr/>
          </p:nvSpPr>
          <p:spPr>
            <a:xfrm>
              <a:off x="8687191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8" name="ZoneTexte 27">
            <a:extLst>
              <a:ext uri="{FF2B5EF4-FFF2-40B4-BE49-F238E27FC236}">
                <a16:creationId xmlns:a16="http://schemas.microsoft.com/office/drawing/2014/main" id="{5164AE39-E207-EFC2-2FF0-20E4B0F06027}"/>
              </a:ext>
            </a:extLst>
          </p:cNvPr>
          <p:cNvSpPr txBox="1"/>
          <p:nvPr/>
        </p:nvSpPr>
        <p:spPr>
          <a:xfrm>
            <a:off x="611083" y="1632539"/>
            <a:ext cx="6734566" cy="5868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400" dirty="0"/>
              <a:t>Pipeline de décision des modèles :</a:t>
            </a:r>
          </a:p>
        </p:txBody>
      </p:sp>
    </p:spTree>
    <p:extLst>
      <p:ext uri="{BB962C8B-B14F-4D97-AF65-F5344CB8AC3E}">
        <p14:creationId xmlns:p14="http://schemas.microsoft.com/office/powerpoint/2010/main" val="35324108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454A-CDF5-BC7A-6332-F1805FCDB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8F1F0BDE-11BF-9360-7EFE-5EB6EED78F8A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9CBB82-3B29-4AE9-FED3-CB95E461CD7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FD803D-67F2-D3B7-7B12-77C9BE78306D}"/>
              </a:ext>
            </a:extLst>
          </p:cNvPr>
          <p:cNvSpPr/>
          <p:nvPr/>
        </p:nvSpPr>
        <p:spPr>
          <a:xfrm>
            <a:off x="383893" y="344347"/>
            <a:ext cx="11424213" cy="61693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708297C-C89B-86C2-AFAA-4BC5DC766F85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C6D1C47-9B9F-0237-8A13-4B88C4026CD0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A51CA49C-E746-D159-3229-19B9A92757EE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410F46E-5F2C-CBA0-CD64-DD1721D21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E35D3944-F224-AE79-977E-4D8439C234EC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Détection des bots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651127D5-EE4B-8956-DD44-88E86746E51F}"/>
              </a:ext>
            </a:extLst>
          </p:cNvPr>
          <p:cNvGrpSpPr/>
          <p:nvPr/>
        </p:nvGrpSpPr>
        <p:grpSpPr>
          <a:xfrm>
            <a:off x="569059" y="6935716"/>
            <a:ext cx="11167670" cy="3096782"/>
            <a:chOff x="569059" y="2496237"/>
            <a:chExt cx="11167670" cy="3096782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5F2FEB72-299B-621B-43CD-4118961D0D78}"/>
                </a:ext>
              </a:extLst>
            </p:cNvPr>
            <p:cNvSpPr/>
            <p:nvPr/>
          </p:nvSpPr>
          <p:spPr>
            <a:xfrm>
              <a:off x="569059" y="2496237"/>
              <a:ext cx="2234364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Interface utilisateur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HTML</a:t>
              </a:r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50ED938D-033C-1580-B58D-791423FEFB7A}"/>
                </a:ext>
              </a:extLst>
            </p:cNvPr>
            <p:cNvSpPr/>
            <p:nvPr/>
          </p:nvSpPr>
          <p:spPr>
            <a:xfrm>
              <a:off x="3230548" y="2549655"/>
              <a:ext cx="2151440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Captures des logs</a:t>
              </a:r>
              <a:br>
                <a:rPr lang="fr-FR" sz="3200" dirty="0">
                  <a:latin typeface="Abadi" panose="020B0604020104020204" pitchFamily="34" charset="0"/>
                </a:rPr>
              </a:br>
              <a:r>
                <a:rPr lang="fr-FR" sz="3200" dirty="0">
                  <a:latin typeface="Abadi" panose="020B0604020104020204" pitchFamily="34" charset="0"/>
                </a:rPr>
                <a:t>JS</a:t>
              </a:r>
            </a:p>
          </p:txBody>
        </p:sp>
        <p:sp>
          <p:nvSpPr>
            <p:cNvPr id="25" name="Rectangle : coins arrondis 24">
              <a:extLst>
                <a:ext uri="{FF2B5EF4-FFF2-40B4-BE49-F238E27FC236}">
                  <a16:creationId xmlns:a16="http://schemas.microsoft.com/office/drawing/2014/main" id="{94CD28C7-C3A3-D46E-AE79-9539013167B1}"/>
                </a:ext>
              </a:extLst>
            </p:cNvPr>
            <p:cNvSpPr/>
            <p:nvPr/>
          </p:nvSpPr>
          <p:spPr>
            <a:xfrm>
              <a:off x="5824847" y="2496237"/>
              <a:ext cx="3028491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Transformation des données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Python</a:t>
              </a:r>
            </a:p>
          </p:txBody>
        </p:sp>
        <p:sp>
          <p:nvSpPr>
            <p:cNvPr id="26" name="Rectangle : coins arrondis 25">
              <a:extLst>
                <a:ext uri="{FF2B5EF4-FFF2-40B4-BE49-F238E27FC236}">
                  <a16:creationId xmlns:a16="http://schemas.microsoft.com/office/drawing/2014/main" id="{E03494E1-CABF-C3EF-CC09-3325B9DD7583}"/>
                </a:ext>
              </a:extLst>
            </p:cNvPr>
            <p:cNvSpPr/>
            <p:nvPr/>
          </p:nvSpPr>
          <p:spPr>
            <a:xfrm>
              <a:off x="9296197" y="2496237"/>
              <a:ext cx="2440532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Prédiction du modèle</a:t>
              </a:r>
            </a:p>
          </p:txBody>
        </p:sp>
        <p:sp>
          <p:nvSpPr>
            <p:cNvPr id="27" name="Flèche : droite 26">
              <a:extLst>
                <a:ext uri="{FF2B5EF4-FFF2-40B4-BE49-F238E27FC236}">
                  <a16:creationId xmlns:a16="http://schemas.microsoft.com/office/drawing/2014/main" id="{2F5AE4CA-4C52-94A9-4156-52219023DB15}"/>
                </a:ext>
              </a:extLst>
            </p:cNvPr>
            <p:cNvSpPr/>
            <p:nvPr/>
          </p:nvSpPr>
          <p:spPr>
            <a:xfrm>
              <a:off x="262745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Flèche : droite 27">
              <a:extLst>
                <a:ext uri="{FF2B5EF4-FFF2-40B4-BE49-F238E27FC236}">
                  <a16:creationId xmlns:a16="http://schemas.microsoft.com/office/drawing/2014/main" id="{FFB0D00D-C024-C004-2FF4-A91CC1D86D29}"/>
                </a:ext>
              </a:extLst>
            </p:cNvPr>
            <p:cNvSpPr/>
            <p:nvPr/>
          </p:nvSpPr>
          <p:spPr>
            <a:xfrm>
              <a:off x="521864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Flèche : droite 28">
              <a:extLst>
                <a:ext uri="{FF2B5EF4-FFF2-40B4-BE49-F238E27FC236}">
                  <a16:creationId xmlns:a16="http://schemas.microsoft.com/office/drawing/2014/main" id="{107D82A3-EEBD-939D-ADD4-6AF9E2179915}"/>
                </a:ext>
              </a:extLst>
            </p:cNvPr>
            <p:cNvSpPr/>
            <p:nvPr/>
          </p:nvSpPr>
          <p:spPr>
            <a:xfrm>
              <a:off x="8687191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1" name="ZoneTexte 30">
            <a:extLst>
              <a:ext uri="{FF2B5EF4-FFF2-40B4-BE49-F238E27FC236}">
                <a16:creationId xmlns:a16="http://schemas.microsoft.com/office/drawing/2014/main" id="{D4AFB64A-15FC-CB14-B52E-3FCA3F123F78}"/>
              </a:ext>
            </a:extLst>
          </p:cNvPr>
          <p:cNvSpPr txBox="1"/>
          <p:nvPr/>
        </p:nvSpPr>
        <p:spPr>
          <a:xfrm>
            <a:off x="680573" y="1735145"/>
            <a:ext cx="4082373" cy="3900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800" b="1" dirty="0"/>
              <a:t>Mouvements de la souris :</a:t>
            </a:r>
          </a:p>
          <a:p>
            <a:pPr marL="457200" indent="-457200">
              <a:buFontTx/>
              <a:buChar char="-"/>
            </a:pPr>
            <a:r>
              <a:rPr lang="fr-FR" sz="2800" dirty="0"/>
              <a:t>Accélération</a:t>
            </a:r>
          </a:p>
          <a:p>
            <a:pPr marL="457200" indent="-457200">
              <a:buFontTx/>
              <a:buChar char="-"/>
            </a:pPr>
            <a:r>
              <a:rPr lang="fr-FR" sz="2800" dirty="0"/>
              <a:t>Entropie</a:t>
            </a:r>
          </a:p>
          <a:p>
            <a:pPr marL="457200" indent="-457200">
              <a:buFontTx/>
              <a:buChar char="-"/>
            </a:pPr>
            <a:r>
              <a:rPr lang="fr-FR" sz="2800" dirty="0"/>
              <a:t>Micro-</a:t>
            </a:r>
            <a:r>
              <a:rPr lang="fr-FR" sz="2800" dirty="0" err="1"/>
              <a:t>jitter</a:t>
            </a:r>
            <a:endParaRPr lang="fr-FR" sz="2800" dirty="0"/>
          </a:p>
          <a:p>
            <a:pPr marL="457200" indent="-457200">
              <a:buFontTx/>
              <a:buChar char="-"/>
            </a:pPr>
            <a:r>
              <a:rPr lang="fr-FR" sz="2800" dirty="0"/>
              <a:t>Distance relative…</a:t>
            </a:r>
          </a:p>
        </p:txBody>
      </p:sp>
      <p:pic>
        <p:nvPicPr>
          <p:cNvPr id="33" name="Image 32">
            <a:extLst>
              <a:ext uri="{FF2B5EF4-FFF2-40B4-BE49-F238E27FC236}">
                <a16:creationId xmlns:a16="http://schemas.microsoft.com/office/drawing/2014/main" id="{0F368566-B120-8BD5-BF38-F5EA48E4E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946" y="1612660"/>
            <a:ext cx="6817971" cy="4545314"/>
          </a:xfrm>
          <a:prstGeom prst="rect">
            <a:avLst/>
          </a:prstGeom>
          <a:ln w="2222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968696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4F216-B7D6-DB90-82C0-5F382F102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016F33C-3B96-AE37-C4FE-07203EA6014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565EFF-1FC8-81A4-E57B-6B939858272C}"/>
              </a:ext>
            </a:extLst>
          </p:cNvPr>
          <p:cNvSpPr/>
          <p:nvPr/>
        </p:nvSpPr>
        <p:spPr>
          <a:xfrm>
            <a:off x="383893" y="344347"/>
            <a:ext cx="11424213" cy="61693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3665333E-7821-2B3E-57DE-0BBF1522325D}"/>
              </a:ext>
            </a:extLst>
          </p:cNvPr>
          <p:cNvSpPr/>
          <p:nvPr/>
        </p:nvSpPr>
        <p:spPr>
          <a:xfrm>
            <a:off x="5495880" y="4203838"/>
            <a:ext cx="5941734" cy="2165669"/>
          </a:xfrm>
          <a:prstGeom prst="roundRect">
            <a:avLst>
              <a:gd name="adj" fmla="val 7507"/>
            </a:avLst>
          </a:prstGeom>
          <a:solidFill>
            <a:srgbClr val="F4F5F7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6D437C6B-161E-26C3-802F-F1AB7C282A14}"/>
              </a:ext>
            </a:extLst>
          </p:cNvPr>
          <p:cNvSpPr/>
          <p:nvPr/>
        </p:nvSpPr>
        <p:spPr>
          <a:xfrm>
            <a:off x="5495879" y="1756467"/>
            <a:ext cx="5941735" cy="2405296"/>
          </a:xfrm>
          <a:prstGeom prst="roundRect">
            <a:avLst>
              <a:gd name="adj" fmla="val 7507"/>
            </a:avLst>
          </a:prstGeom>
          <a:solidFill>
            <a:srgbClr val="F4F5F7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2903C2-9D86-5EBF-1C7E-67D8E4FB8A4F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DDF0AB3E-B50C-A8B6-BB05-34AEF0B8BC80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BBE467B2-27D6-C555-8E48-2D499BFDC859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41F6D2AB-5D8F-5C1B-9CE3-9A02A3CB9C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F126D480-2AFE-28C9-4624-2EECB55A5E2E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Détection des bots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0678A8B2-02FF-193B-8E12-2496F536359C}"/>
              </a:ext>
            </a:extLst>
          </p:cNvPr>
          <p:cNvSpPr/>
          <p:nvPr/>
        </p:nvSpPr>
        <p:spPr>
          <a:xfrm>
            <a:off x="438953" y="2496237"/>
            <a:ext cx="2277594" cy="3096782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Données brutes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B6F87D2E-CAE3-BCBF-341F-C373655366D5}"/>
              </a:ext>
            </a:extLst>
          </p:cNvPr>
          <p:cNvSpPr/>
          <p:nvPr/>
        </p:nvSpPr>
        <p:spPr>
          <a:xfrm>
            <a:off x="2848597" y="2496237"/>
            <a:ext cx="2592991" cy="3096782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23</a:t>
            </a:r>
          </a:p>
          <a:p>
            <a:pPr algn="ctr"/>
            <a:r>
              <a:rPr lang="fr-FR" sz="3200" dirty="0" err="1">
                <a:latin typeface="Abadi" panose="020B0604020104020204" pitchFamily="34" charset="0"/>
              </a:rPr>
              <a:t>features</a:t>
            </a:r>
            <a:endParaRPr lang="fr-FR" sz="3200" dirty="0">
              <a:latin typeface="Abadi" panose="020B0604020104020204" pitchFamily="34" charset="0"/>
            </a:endParaRPr>
          </a:p>
          <a:p>
            <a:pPr algn="ctr"/>
            <a:r>
              <a:rPr lang="fr-FR" sz="3200" dirty="0">
                <a:latin typeface="Abadi" panose="020B0604020104020204" pitchFamily="34" charset="0"/>
              </a:rPr>
              <a:t>sur 10 secondes de data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BEF10D6E-9CA4-AD9B-C365-A2A5EAD17D56}"/>
              </a:ext>
            </a:extLst>
          </p:cNvPr>
          <p:cNvSpPr/>
          <p:nvPr/>
        </p:nvSpPr>
        <p:spPr>
          <a:xfrm>
            <a:off x="5666378" y="4353584"/>
            <a:ext cx="2679046" cy="1473705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Classification</a:t>
            </a:r>
          </a:p>
          <a:p>
            <a:pPr algn="ctr"/>
            <a:r>
              <a:rPr lang="fr-FR" sz="3200" dirty="0" err="1">
                <a:latin typeface="Abadi" panose="020B0604020104020204" pitchFamily="34" charset="0"/>
              </a:rPr>
              <a:t>Random</a:t>
            </a:r>
            <a:r>
              <a:rPr lang="fr-FR" sz="3200" dirty="0">
                <a:latin typeface="Abadi" panose="020B0604020104020204" pitchFamily="34" charset="0"/>
              </a:rPr>
              <a:t> Forest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E5F68E52-DC07-2B33-2AC1-37E71365C63E}"/>
              </a:ext>
            </a:extLst>
          </p:cNvPr>
          <p:cNvSpPr/>
          <p:nvPr/>
        </p:nvSpPr>
        <p:spPr>
          <a:xfrm>
            <a:off x="8588984" y="2496237"/>
            <a:ext cx="2440532" cy="1473705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Prédiction</a:t>
            </a:r>
          </a:p>
        </p:txBody>
      </p:sp>
      <p:sp>
        <p:nvSpPr>
          <p:cNvPr id="14" name="Flèche : droite 13">
            <a:extLst>
              <a:ext uri="{FF2B5EF4-FFF2-40B4-BE49-F238E27FC236}">
                <a16:creationId xmlns:a16="http://schemas.microsoft.com/office/drawing/2014/main" id="{604D0F4C-628A-329F-4CD6-EF461C832BEE}"/>
              </a:ext>
            </a:extLst>
          </p:cNvPr>
          <p:cNvSpPr/>
          <p:nvPr/>
        </p:nvSpPr>
        <p:spPr>
          <a:xfrm>
            <a:off x="2346816" y="3637286"/>
            <a:ext cx="877356" cy="868102"/>
          </a:xfrm>
          <a:prstGeom prst="rightArrow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lèche : droite 18">
            <a:extLst>
              <a:ext uri="{FF2B5EF4-FFF2-40B4-BE49-F238E27FC236}">
                <a16:creationId xmlns:a16="http://schemas.microsoft.com/office/drawing/2014/main" id="{90A560C9-D4D1-5865-5736-7117903BC636}"/>
              </a:ext>
            </a:extLst>
          </p:cNvPr>
          <p:cNvSpPr/>
          <p:nvPr/>
        </p:nvSpPr>
        <p:spPr>
          <a:xfrm>
            <a:off x="5282484" y="4697310"/>
            <a:ext cx="877356" cy="868102"/>
          </a:xfrm>
          <a:prstGeom prst="rightArrow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81B260C3-5D5C-B8BB-BEA8-593A55116FF6}"/>
              </a:ext>
            </a:extLst>
          </p:cNvPr>
          <p:cNvSpPr/>
          <p:nvPr/>
        </p:nvSpPr>
        <p:spPr>
          <a:xfrm>
            <a:off x="5627930" y="2496237"/>
            <a:ext cx="2679046" cy="1473705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Détection</a:t>
            </a:r>
          </a:p>
          <a:p>
            <a:pPr algn="ctr"/>
            <a:r>
              <a:rPr lang="fr-FR" sz="3200" dirty="0">
                <a:latin typeface="Abadi" panose="020B0604020104020204" pitchFamily="34" charset="0"/>
              </a:rPr>
              <a:t>Isolation Forest</a:t>
            </a:r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6DD9BBB4-CB26-A98A-A72C-2BDB9A302F6D}"/>
              </a:ext>
            </a:extLst>
          </p:cNvPr>
          <p:cNvSpPr/>
          <p:nvPr/>
        </p:nvSpPr>
        <p:spPr>
          <a:xfrm>
            <a:off x="7975496" y="2833915"/>
            <a:ext cx="877356" cy="868102"/>
          </a:xfrm>
          <a:prstGeom prst="rightArrow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73FA243F-3622-8B79-67F9-348B81D6E14A}"/>
              </a:ext>
            </a:extLst>
          </p:cNvPr>
          <p:cNvSpPr/>
          <p:nvPr/>
        </p:nvSpPr>
        <p:spPr>
          <a:xfrm>
            <a:off x="5221618" y="2833915"/>
            <a:ext cx="877356" cy="868102"/>
          </a:xfrm>
          <a:prstGeom prst="rightArrow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4DB5D5BF-ABD3-8B71-C679-91D2B6BCF8B2}"/>
              </a:ext>
            </a:extLst>
          </p:cNvPr>
          <p:cNvSpPr/>
          <p:nvPr/>
        </p:nvSpPr>
        <p:spPr>
          <a:xfrm>
            <a:off x="8625247" y="4363949"/>
            <a:ext cx="2440532" cy="1473705"/>
          </a:xfrm>
          <a:prstGeom prst="roundRect">
            <a:avLst>
              <a:gd name="adj" fmla="val 8766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latin typeface="Abadi" panose="020B0604020104020204" pitchFamily="34" charset="0"/>
              </a:rPr>
              <a:t>Prédiction</a:t>
            </a:r>
          </a:p>
        </p:txBody>
      </p:sp>
      <p:sp>
        <p:nvSpPr>
          <p:cNvPr id="32" name="Flèche : droite 31">
            <a:extLst>
              <a:ext uri="{FF2B5EF4-FFF2-40B4-BE49-F238E27FC236}">
                <a16:creationId xmlns:a16="http://schemas.microsoft.com/office/drawing/2014/main" id="{8DE3095C-F482-F1CB-C774-362EF1C6F552}"/>
              </a:ext>
            </a:extLst>
          </p:cNvPr>
          <p:cNvSpPr/>
          <p:nvPr/>
        </p:nvSpPr>
        <p:spPr>
          <a:xfrm>
            <a:off x="8017666" y="4697310"/>
            <a:ext cx="877356" cy="868102"/>
          </a:xfrm>
          <a:prstGeom prst="rightArrow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2020406D-797A-3C16-640C-34255C0BAFC4}"/>
              </a:ext>
            </a:extLst>
          </p:cNvPr>
          <p:cNvSpPr txBox="1"/>
          <p:nvPr/>
        </p:nvSpPr>
        <p:spPr>
          <a:xfrm>
            <a:off x="6118607" y="1789546"/>
            <a:ext cx="4884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algn="ctr"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dirty="0"/>
              <a:t>Premier modèle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A317C192-161F-A4C1-C747-7F510EF8A480}"/>
              </a:ext>
            </a:extLst>
          </p:cNvPr>
          <p:cNvSpPr txBox="1"/>
          <p:nvPr/>
        </p:nvSpPr>
        <p:spPr>
          <a:xfrm>
            <a:off x="5996817" y="5723176"/>
            <a:ext cx="4884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algn="ctr"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dirty="0"/>
              <a:t>Second modèle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DF8BE371-BDBD-98C0-474A-D3583E034A88}"/>
              </a:ext>
            </a:extLst>
          </p:cNvPr>
          <p:cNvSpPr txBox="1"/>
          <p:nvPr/>
        </p:nvSpPr>
        <p:spPr>
          <a:xfrm>
            <a:off x="611083" y="1377843"/>
            <a:ext cx="6734566" cy="1140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400" dirty="0"/>
              <a:t>Pipeline de classification </a:t>
            </a:r>
            <a:r>
              <a:rPr lang="fr-FR" sz="2400"/>
              <a:t>/ détection</a:t>
            </a:r>
          </a:p>
          <a:p>
            <a:r>
              <a:rPr lang="fr-FR" sz="2400"/>
              <a:t>des </a:t>
            </a:r>
            <a:r>
              <a:rPr lang="fr-FR" sz="2400" dirty="0"/>
              <a:t>comportements robots</a:t>
            </a:r>
          </a:p>
        </p:txBody>
      </p:sp>
    </p:spTree>
    <p:extLst>
      <p:ext uri="{BB962C8B-B14F-4D97-AF65-F5344CB8AC3E}">
        <p14:creationId xmlns:p14="http://schemas.microsoft.com/office/powerpoint/2010/main" val="34700829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CFA59-DE43-8BA8-3974-19BC22174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F5F16A6-2251-5BED-4AE8-7CF3967E03F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81C3CA1-5AA6-0A99-AF15-5C08D91E5589}"/>
              </a:ext>
            </a:extLst>
          </p:cNvPr>
          <p:cNvSpPr/>
          <p:nvPr/>
        </p:nvSpPr>
        <p:spPr>
          <a:xfrm>
            <a:off x="221848" y="182301"/>
            <a:ext cx="11748303" cy="6493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93AA05-1528-0BE2-C3F4-4D3A08DF71F9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1E8C9ECA-6152-E5A3-432E-ABD37AD38472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F9595974-DE16-6FB4-B06E-C8D2920D61AF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66381955-AF88-F48C-06E6-B6B42AC23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CC85EA8D-AD4A-BFD3-43B6-20E34A8A6CA3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Analyse comportementale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90B746-D46B-3F89-AA20-7BFC33CAA271}"/>
              </a:ext>
            </a:extLst>
          </p:cNvPr>
          <p:cNvSpPr txBox="1"/>
          <p:nvPr/>
        </p:nvSpPr>
        <p:spPr>
          <a:xfrm>
            <a:off x="680573" y="1735145"/>
            <a:ext cx="4820020" cy="4547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800" b="1" dirty="0"/>
              <a:t>Events</a:t>
            </a:r>
            <a:r>
              <a:rPr lang="fr-FR" sz="2800" dirty="0"/>
              <a:t> : actions et passages à certains points clés de la page</a:t>
            </a:r>
          </a:p>
          <a:p>
            <a:r>
              <a:rPr lang="fr-FR" sz="2800" b="1" dirty="0"/>
              <a:t>Type d’</a:t>
            </a:r>
            <a:r>
              <a:rPr lang="fr-FR" sz="2800" b="1" dirty="0" err="1"/>
              <a:t>events</a:t>
            </a:r>
            <a:r>
              <a:rPr lang="fr-FR" sz="2800" b="1" dirty="0"/>
              <a:t> :</a:t>
            </a:r>
            <a:r>
              <a:rPr lang="fr-FR" sz="2800" dirty="0"/>
              <a:t> </a:t>
            </a:r>
            <a:r>
              <a:rPr lang="fr-FR" sz="2800" dirty="0" err="1"/>
              <a:t>hover</a:t>
            </a:r>
            <a:r>
              <a:rPr lang="fr-FR" sz="2800" dirty="0"/>
              <a:t>, click, </a:t>
            </a:r>
            <a:r>
              <a:rPr lang="fr-FR" sz="2800" dirty="0" err="1"/>
              <a:t>buy</a:t>
            </a:r>
            <a:r>
              <a:rPr lang="fr-FR" sz="2800" dirty="0"/>
              <a:t> …</a:t>
            </a:r>
          </a:p>
          <a:p>
            <a:r>
              <a:rPr lang="fr-FR" sz="2800" b="1" dirty="0"/>
              <a:t>Temps passé sur l’</a:t>
            </a:r>
            <a:r>
              <a:rPr lang="fr-FR" sz="2800" b="1" dirty="0" err="1"/>
              <a:t>event</a:t>
            </a:r>
            <a:r>
              <a:rPr lang="fr-FR" sz="2800" b="1" dirty="0"/>
              <a:t>,</a:t>
            </a:r>
          </a:p>
          <a:p>
            <a:r>
              <a:rPr lang="fr-FR" sz="2800" b="1" dirty="0"/>
              <a:t>Scroll,</a:t>
            </a:r>
          </a:p>
          <a:p>
            <a:r>
              <a:rPr lang="fr-FR" sz="2800" dirty="0"/>
              <a:t>…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6BD1B086-153F-007D-035B-DF05BBA50ED7}"/>
              </a:ext>
            </a:extLst>
          </p:cNvPr>
          <p:cNvGrpSpPr/>
          <p:nvPr/>
        </p:nvGrpSpPr>
        <p:grpSpPr>
          <a:xfrm>
            <a:off x="5500592" y="1728106"/>
            <a:ext cx="6474634" cy="3974996"/>
            <a:chOff x="5500592" y="1728106"/>
            <a:chExt cx="6474634" cy="3974996"/>
          </a:xfrm>
        </p:grpSpPr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3402487A-9865-C6E1-0105-3AC311861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21432"/>
            <a:stretch>
              <a:fillRect/>
            </a:stretch>
          </p:blipFill>
          <p:spPr>
            <a:xfrm>
              <a:off x="5500592" y="1728106"/>
              <a:ext cx="6474634" cy="3974996"/>
            </a:xfrm>
            <a:prstGeom prst="rect">
              <a:avLst/>
            </a:prstGeom>
          </p:spPr>
        </p:pic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BCC89305-F300-6396-45C0-DAC4251F03B4}"/>
                </a:ext>
              </a:extLst>
            </p:cNvPr>
            <p:cNvSpPr/>
            <p:nvPr/>
          </p:nvSpPr>
          <p:spPr>
            <a:xfrm>
              <a:off x="5669119" y="2797804"/>
              <a:ext cx="1566059" cy="243840"/>
            </a:xfrm>
            <a:prstGeom prst="ellipse">
              <a:avLst/>
            </a:prstGeom>
            <a:noFill/>
            <a:ln w="31750">
              <a:solidFill>
                <a:srgbClr val="FF9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50A62665-4AC9-4406-649B-E93255C6AD53}"/>
                </a:ext>
              </a:extLst>
            </p:cNvPr>
            <p:cNvSpPr/>
            <p:nvPr/>
          </p:nvSpPr>
          <p:spPr>
            <a:xfrm>
              <a:off x="7171850" y="2453456"/>
              <a:ext cx="1800688" cy="2173147"/>
            </a:xfrm>
            <a:prstGeom prst="ellipse">
              <a:avLst/>
            </a:prstGeom>
            <a:noFill/>
            <a:ln w="31750">
              <a:solidFill>
                <a:srgbClr val="FF9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4B6DB7CA-74B3-B216-D6EC-EBF100D6AD8A}"/>
                </a:ext>
              </a:extLst>
            </p:cNvPr>
            <p:cNvSpPr/>
            <p:nvPr/>
          </p:nvSpPr>
          <p:spPr>
            <a:xfrm>
              <a:off x="7753337" y="3995240"/>
              <a:ext cx="781371" cy="410882"/>
            </a:xfrm>
            <a:prstGeom prst="ellipse">
              <a:avLst/>
            </a:prstGeom>
            <a:noFill/>
            <a:ln w="31750">
              <a:solidFill>
                <a:srgbClr val="FF9A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639272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4CFAD-D676-F80D-6563-0789BEC9C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E71800F3-C0ED-AB3E-EC90-97E120483E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03EF71-2651-64C1-749A-074700CBF451}"/>
              </a:ext>
            </a:extLst>
          </p:cNvPr>
          <p:cNvSpPr/>
          <p:nvPr/>
        </p:nvSpPr>
        <p:spPr>
          <a:xfrm>
            <a:off x="221848" y="182301"/>
            <a:ext cx="11748303" cy="6493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DC2F34E-55C5-1F3E-919D-E46EB75033AF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E550F61-22D4-BC05-45DD-CD37350D70E3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615DAE72-7EA2-6E9D-77E9-A6C806810277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75645A2-D17D-627F-38FB-CCF40BD86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05CA4929-BAE5-8CFF-5AD5-A043CEE39DFF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Analyse comportementale</a:t>
            </a:r>
          </a:p>
        </p:txBody>
      </p: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9740742A-CF4A-26F0-B2C6-5B9D87624E9D}"/>
              </a:ext>
            </a:extLst>
          </p:cNvPr>
          <p:cNvGrpSpPr/>
          <p:nvPr/>
        </p:nvGrpSpPr>
        <p:grpSpPr>
          <a:xfrm>
            <a:off x="617256" y="2496237"/>
            <a:ext cx="11075415" cy="3096782"/>
            <a:chOff x="617256" y="2496237"/>
            <a:chExt cx="11075415" cy="3096782"/>
          </a:xfrm>
        </p:grpSpPr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CB1174CA-D2A2-C151-07F0-1A67B33DE42A}"/>
                </a:ext>
              </a:extLst>
            </p:cNvPr>
            <p:cNvSpPr/>
            <p:nvPr/>
          </p:nvSpPr>
          <p:spPr>
            <a:xfrm>
              <a:off x="617256" y="2496237"/>
              <a:ext cx="2277594" cy="3096782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28 </a:t>
              </a:r>
              <a:r>
                <a:rPr lang="fr-FR" sz="3200" dirty="0" err="1">
                  <a:latin typeface="Abadi" panose="020B0604020104020204" pitchFamily="34" charset="0"/>
                </a:rPr>
                <a:t>features</a:t>
              </a:r>
              <a:endParaRPr lang="fr-FR" sz="3200" dirty="0">
                <a:latin typeface="Abadi" panose="020B0604020104020204" pitchFamily="34" charset="0"/>
              </a:endParaRP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créés sur une fenêtre glissante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ED2EBB3B-E1B1-E8F9-D0BC-AA9AC72BF180}"/>
                </a:ext>
              </a:extLst>
            </p:cNvPr>
            <p:cNvSpPr/>
            <p:nvPr/>
          </p:nvSpPr>
          <p:spPr>
            <a:xfrm>
              <a:off x="3230547" y="2549655"/>
              <a:ext cx="2865451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16 composantes principales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(ACP)</a:t>
              </a:r>
            </a:p>
          </p:txBody>
        </p:sp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B9BF964C-D393-713D-056D-07C6BA2C9F26}"/>
                </a:ext>
              </a:extLst>
            </p:cNvPr>
            <p:cNvSpPr/>
            <p:nvPr/>
          </p:nvSpPr>
          <p:spPr>
            <a:xfrm>
              <a:off x="6573093" y="2549655"/>
              <a:ext cx="2397866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4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Clusters</a:t>
              </a:r>
            </a:p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(</a:t>
              </a:r>
              <a:r>
                <a:rPr lang="fr-FR" sz="3200" dirty="0" err="1">
                  <a:latin typeface="Abadi" panose="020B0604020104020204" pitchFamily="34" charset="0"/>
                </a:rPr>
                <a:t>Kmeans</a:t>
              </a:r>
              <a:r>
                <a:rPr lang="fr-FR" sz="3200" dirty="0">
                  <a:latin typeface="Abadi" panose="020B0604020104020204" pitchFamily="34" charset="0"/>
                </a:rPr>
                <a:t>)</a:t>
              </a:r>
            </a:p>
          </p:txBody>
        </p:sp>
        <p:sp>
          <p:nvSpPr>
            <p:cNvPr id="18" name="Rectangle : coins arrondis 17">
              <a:extLst>
                <a:ext uri="{FF2B5EF4-FFF2-40B4-BE49-F238E27FC236}">
                  <a16:creationId xmlns:a16="http://schemas.microsoft.com/office/drawing/2014/main" id="{AF7F647A-3275-9281-9BDA-95D38CA9FD6A}"/>
                </a:ext>
              </a:extLst>
            </p:cNvPr>
            <p:cNvSpPr/>
            <p:nvPr/>
          </p:nvSpPr>
          <p:spPr>
            <a:xfrm>
              <a:off x="9252139" y="2549655"/>
              <a:ext cx="2440532" cy="3043364"/>
            </a:xfrm>
            <a:prstGeom prst="roundRect">
              <a:avLst>
                <a:gd name="adj" fmla="val 8766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dirty="0">
                  <a:latin typeface="Abadi" panose="020B0604020104020204" pitchFamily="34" charset="0"/>
                </a:rPr>
                <a:t>Projection de la prédiction</a:t>
              </a:r>
            </a:p>
          </p:txBody>
        </p:sp>
        <p:sp>
          <p:nvSpPr>
            <p:cNvPr id="19" name="Flèche : droite 18">
              <a:extLst>
                <a:ext uri="{FF2B5EF4-FFF2-40B4-BE49-F238E27FC236}">
                  <a16:creationId xmlns:a16="http://schemas.microsoft.com/office/drawing/2014/main" id="{9B32EC5A-BA44-8715-CF5E-8A55027C69B7}"/>
                </a:ext>
              </a:extLst>
            </p:cNvPr>
            <p:cNvSpPr/>
            <p:nvPr/>
          </p:nvSpPr>
          <p:spPr>
            <a:xfrm>
              <a:off x="2627453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lèche : droite 21">
              <a:extLst>
                <a:ext uri="{FF2B5EF4-FFF2-40B4-BE49-F238E27FC236}">
                  <a16:creationId xmlns:a16="http://schemas.microsoft.com/office/drawing/2014/main" id="{0CDA4F05-2E1A-EF59-8E23-C05FF29B1675}"/>
                </a:ext>
              </a:extLst>
            </p:cNvPr>
            <p:cNvSpPr/>
            <p:nvPr/>
          </p:nvSpPr>
          <p:spPr>
            <a:xfrm>
              <a:off x="8698026" y="3637286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lèche : droite 22">
              <a:extLst>
                <a:ext uri="{FF2B5EF4-FFF2-40B4-BE49-F238E27FC236}">
                  <a16:creationId xmlns:a16="http://schemas.microsoft.com/office/drawing/2014/main" id="{FC30F456-4958-EFBB-E4E6-1295DC7CDA3C}"/>
                </a:ext>
              </a:extLst>
            </p:cNvPr>
            <p:cNvSpPr/>
            <p:nvPr/>
          </p:nvSpPr>
          <p:spPr>
            <a:xfrm>
              <a:off x="5938973" y="3583868"/>
              <a:ext cx="877356" cy="868102"/>
            </a:xfrm>
            <a:prstGeom prst="rightArrow">
              <a:avLst/>
            </a:prstGeom>
            <a:solidFill>
              <a:srgbClr val="FF9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7" name="ZoneTexte 26">
            <a:extLst>
              <a:ext uri="{FF2B5EF4-FFF2-40B4-BE49-F238E27FC236}">
                <a16:creationId xmlns:a16="http://schemas.microsoft.com/office/drawing/2014/main" id="{20483E6B-60B0-092E-5704-2D4DF82DAEAB}"/>
              </a:ext>
            </a:extLst>
          </p:cNvPr>
          <p:cNvSpPr txBox="1"/>
          <p:nvPr/>
        </p:nvSpPr>
        <p:spPr>
          <a:xfrm>
            <a:off x="611083" y="1632539"/>
            <a:ext cx="6734566" cy="5868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3600">
                <a:latin typeface="Abadi" panose="020B0604020104020204" pitchFamily="34" charset="0"/>
              </a:defRPr>
            </a:lvl1pPr>
          </a:lstStyle>
          <a:p>
            <a:r>
              <a:rPr lang="fr-FR" sz="2400" dirty="0"/>
              <a:t>Pipeline de classification du comportement:</a:t>
            </a:r>
          </a:p>
        </p:txBody>
      </p:sp>
    </p:spTree>
    <p:extLst>
      <p:ext uri="{BB962C8B-B14F-4D97-AF65-F5344CB8AC3E}">
        <p14:creationId xmlns:p14="http://schemas.microsoft.com/office/powerpoint/2010/main" val="32331995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2FBE8-9063-EC82-B476-4E7BE3717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4AB37457-E8F5-CBFE-1151-CF7BC32EF2E9}"/>
              </a:ext>
            </a:extLst>
          </p:cNvPr>
          <p:cNvSpPr txBox="1"/>
          <p:nvPr/>
        </p:nvSpPr>
        <p:spPr>
          <a:xfrm>
            <a:off x="1782501" y="1365813"/>
            <a:ext cx="459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Qu’est-ce qu’on a fait?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206E64-A30D-E0F7-726C-A338379686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3ACE70-E32B-49A7-57F2-30713818FC10}"/>
              </a:ext>
            </a:extLst>
          </p:cNvPr>
          <p:cNvSpPr/>
          <p:nvPr/>
        </p:nvSpPr>
        <p:spPr>
          <a:xfrm>
            <a:off x="383893" y="344347"/>
            <a:ext cx="11424213" cy="61693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A06456-90C2-3878-AC06-DB3B739E33E1}"/>
              </a:ext>
            </a:extLst>
          </p:cNvPr>
          <p:cNvSpPr/>
          <p:nvPr/>
        </p:nvSpPr>
        <p:spPr>
          <a:xfrm>
            <a:off x="680572" y="1413558"/>
            <a:ext cx="1946881" cy="4571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7BC6F20D-01AE-A8DE-1C00-53DEEFCDDD13}"/>
              </a:ext>
            </a:extLst>
          </p:cNvPr>
          <p:cNvGrpSpPr/>
          <p:nvPr/>
        </p:nvGrpSpPr>
        <p:grpSpPr>
          <a:xfrm>
            <a:off x="8438819" y="410612"/>
            <a:ext cx="3142098" cy="1002130"/>
            <a:chOff x="6886937" y="3240911"/>
            <a:chExt cx="4942390" cy="1576309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286C88D5-B1DB-309D-15BA-C0581049156C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59162330-76B7-9292-5AB2-C9D0481CC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  <p:sp>
        <p:nvSpPr>
          <p:cNvPr id="7" name="ZoneTexte 6">
            <a:extLst>
              <a:ext uri="{FF2B5EF4-FFF2-40B4-BE49-F238E27FC236}">
                <a16:creationId xmlns:a16="http://schemas.microsoft.com/office/drawing/2014/main" id="{4874EAF4-82D9-19F6-4B0C-1CD177112CE3}"/>
              </a:ext>
            </a:extLst>
          </p:cNvPr>
          <p:cNvSpPr txBox="1"/>
          <p:nvPr/>
        </p:nvSpPr>
        <p:spPr>
          <a:xfrm>
            <a:off x="611083" y="766410"/>
            <a:ext cx="8945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Abadi" panose="020B0604020104020204" pitchFamily="34" charset="0"/>
              </a:rPr>
              <a:t>Démonstration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DED80A5F-061B-C5C8-15E5-399D1D98508F}"/>
              </a:ext>
            </a:extLst>
          </p:cNvPr>
          <p:cNvSpPr txBox="1"/>
          <p:nvPr/>
        </p:nvSpPr>
        <p:spPr>
          <a:xfrm>
            <a:off x="383893" y="2596400"/>
            <a:ext cx="11424213" cy="20146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defRPr sz="2800" b="1">
                <a:latin typeface="Abadi" panose="020B0604020104020204" pitchFamily="34" charset="0"/>
              </a:defRPr>
            </a:lvl1pPr>
          </a:lstStyle>
          <a:p>
            <a:pPr algn="ctr"/>
            <a:r>
              <a:rPr lang="fr-FR" sz="4400" b="0" dirty="0">
                <a:solidFill>
                  <a:srgbClr val="FF9A00"/>
                </a:solidFill>
              </a:rPr>
              <a:t>Utilisation de l’app &amp; démonstration de la détection de bots avec </a:t>
            </a:r>
            <a:r>
              <a:rPr lang="fr-FR" sz="4400" b="0" dirty="0" err="1">
                <a:solidFill>
                  <a:srgbClr val="FF9A00"/>
                </a:solidFill>
              </a:rPr>
              <a:t>Selenium</a:t>
            </a:r>
            <a:endParaRPr lang="fr-FR" sz="4400" b="0" dirty="0">
              <a:solidFill>
                <a:srgbClr val="FF9A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14025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7BF50-FDDE-58D4-A1FD-5DFB21252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12">
            <a:extLst>
              <a:ext uri="{FF2B5EF4-FFF2-40B4-BE49-F238E27FC236}">
                <a16:creationId xmlns:a16="http://schemas.microsoft.com/office/drawing/2014/main" id="{8C0F9D1D-A88C-3049-CFD2-6627B7B50B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45000"/>
                    </a14:imgEffect>
                    <a14:imgEffect>
                      <a14:brightnessContrast bright="-14000"/>
                    </a14:imgEffect>
                  </a14:imgLayer>
                </a14:imgProps>
              </a:ext>
            </a:extLst>
          </a:blip>
          <a:srcRect l="1424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786D409-2907-5246-DC5B-A18B6CAFDFA6}"/>
              </a:ext>
            </a:extLst>
          </p:cNvPr>
          <p:cNvSpPr/>
          <p:nvPr/>
        </p:nvSpPr>
        <p:spPr>
          <a:xfrm>
            <a:off x="1" y="1"/>
            <a:ext cx="609600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EA5C4BF-6EA5-CDD2-C850-5B8B5D50A5BB}"/>
              </a:ext>
            </a:extLst>
          </p:cNvPr>
          <p:cNvSpPr txBox="1"/>
          <p:nvPr/>
        </p:nvSpPr>
        <p:spPr>
          <a:xfrm>
            <a:off x="437503" y="881121"/>
            <a:ext cx="5523956" cy="3416320"/>
          </a:xfrm>
          <a:prstGeom prst="rect">
            <a:avLst/>
          </a:prstGeom>
          <a:noFill/>
          <a:ln w="4762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Merci de nous avoir écouté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8DB77DA-E148-7B4C-50CD-3445D26D9670}"/>
              </a:ext>
            </a:extLst>
          </p:cNvPr>
          <p:cNvSpPr txBox="1"/>
          <p:nvPr/>
        </p:nvSpPr>
        <p:spPr>
          <a:xfrm>
            <a:off x="6382022" y="2474300"/>
            <a:ext cx="5523956" cy="3416320"/>
          </a:xfrm>
          <a:prstGeom prst="rect">
            <a:avLst/>
          </a:prstGeom>
          <a:noFill/>
          <a:ln w="47625">
            <a:solidFill>
              <a:srgbClr val="FF9A00"/>
            </a:solidFill>
          </a:ln>
        </p:spPr>
        <p:txBody>
          <a:bodyPr wrap="square" rtlCol="0">
            <a:spAutoFit/>
          </a:bodyPr>
          <a:lstStyle/>
          <a:p>
            <a:r>
              <a:rPr lang="fr-FR" sz="7200" dirty="0">
                <a:solidFill>
                  <a:srgbClr val="FF9A00"/>
                </a:solidFill>
                <a:latin typeface="Abadi" panose="020B0604020104020204" pitchFamily="34" charset="0"/>
              </a:rPr>
              <a:t>Avez-vous des questions ?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A1A619D-279E-E060-318A-708FCD057AAB}"/>
              </a:ext>
            </a:extLst>
          </p:cNvPr>
          <p:cNvGrpSpPr/>
          <p:nvPr/>
        </p:nvGrpSpPr>
        <p:grpSpPr>
          <a:xfrm>
            <a:off x="8438819" y="-1204828"/>
            <a:ext cx="3142098" cy="1002130"/>
            <a:chOff x="6886937" y="3240911"/>
            <a:chExt cx="4942390" cy="1576309"/>
          </a:xfrm>
        </p:grpSpPr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C1F87783-0024-34AE-2174-1C09CE3E3E11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513FE3D7-349D-E6F4-17E9-DBBCA5D614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0124156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</TotalTime>
  <Words>364</Words>
  <Application>Microsoft Office PowerPoint</Application>
  <PresentationFormat>Grand écran</PresentationFormat>
  <Paragraphs>105</Paragraphs>
  <Slides>12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Abadi</vt:lpstr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Borot Olivier</dc:creator>
  <cp:lastModifiedBy>Borot Olivier</cp:lastModifiedBy>
  <cp:revision>94</cp:revision>
  <dcterms:created xsi:type="dcterms:W3CDTF">2026-03-05T16:06:28Z</dcterms:created>
  <dcterms:modified xsi:type="dcterms:W3CDTF">2026-03-06T08:15:57Z</dcterms:modified>
</cp:coreProperties>
</file>